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45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200000">
            <a:off x="548640" y="457200"/>
            <a:ext cx="365760" cy="3657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900000">
            <a:off x="8229600" y="365760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ARAM Mayhem Assistant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91440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0D78C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海克斯大乱斗 · 信息差助手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3200400" y="2697480"/>
            <a:ext cx="2743200" cy="27432"/>
          </a:xfrm>
          <a:prstGeom prst="rect">
            <a:avLst/>
          </a:prstGeom>
          <a:solidFill>
            <a:srgbClr val="F0D78C"/>
          </a:solidFill>
          <a:ln/>
        </p:spPr>
      </p:sp>
      <p:sp>
        <p:nvSpPr>
          <p:cNvPr id="8" name="Text 4"/>
          <p:cNvSpPr/>
          <p:nvPr/>
        </p:nvSpPr>
        <p:spPr>
          <a:xfrm>
            <a:off x="1371600" y="30175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Native APK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21  ×  Spring Boot 3.x  ×  MySQL 8.0+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Doodle-Style Presentation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为什么需要这个 App？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645920" cy="27432"/>
          </a:xfrm>
          <a:prstGeom prst="rect">
            <a:avLst/>
          </a:prstGeom>
          <a:solidFill>
            <a:srgbClr val="D6454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信息差痛点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8016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ARAM 模式下英雄平衡修正、强化符文搭配等信息分散，玩家难以在 30 秒选择期做出最优决策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231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工具缺失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28016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 LoL 工具多为峡谷模式设计，缺乏针对 ARAM 专属平衡、节奏和阵容的智能分析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决策焦虑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28016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棱彩/金/银三层强化符文选择 + 装备路线 + 阵容克制共同作用，新手和进阶玩家均面临认知过载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120640" y="1188720"/>
            <a:ext cx="36576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5B9A6B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71600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94960" y="1965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我们的解决方案</a:t>
            </a:r>
            <a:endParaRPr lang="en-US" sz="1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46888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89788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ARAM 专属知识库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297180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8978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智能推荐引擎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3474720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89788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英雄 &amp; 强化 &amp; 出装一站式</a:t>
            </a:r>
            <a:endParaRPr lang="en-US" sz="13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3977640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89788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秒完成最优决策</a:t>
            </a:r>
            <a:endParaRPr lang="en-US" sz="1300" dirty="0"/>
          </a:p>
        </p:txBody>
      </p:sp>
      <p:sp>
        <p:nvSpPr>
          <p:cNvPr id="24" name="Text 14"/>
          <p:cNvSpPr/>
          <p:nvPr/>
        </p:nvSpPr>
        <p:spPr>
          <a:xfrm>
            <a:off x="539496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9A6B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一键辅助 · 消除 ARAM 信息差</a:t>
            </a:r>
            <a:endParaRPr lang="en-US" sz="13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1500000">
            <a:off x="457200" y="457200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核心价值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371600" cy="2743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1828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64545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一 站 式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英雄 + 强化 + 出装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全链路决策辅助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828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4A90D9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234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5176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30 秒快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651760" y="2103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匹配选人期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即可完成最优判断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0" y="1097280"/>
            <a:ext cx="1828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5B9A6B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234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ARAM 专属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63440" y="2103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独有平衡修正数据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非峡谷通用工具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583680" y="1097280"/>
            <a:ext cx="182880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7B5EA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2344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75120" y="1737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社区驱动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675120" y="2103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UGC 玩法投稿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投票构建信任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目标用户群体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548640" y="3749040"/>
            <a:ext cx="137160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2" name="Shape 16"/>
          <p:cNvSpPr/>
          <p:nvPr/>
        </p:nvSpPr>
        <p:spPr>
          <a:xfrm>
            <a:off x="548640" y="3931920"/>
            <a:ext cx="1828800" cy="914400"/>
          </a:xfrm>
          <a:prstGeom prst="rect">
            <a:avLst/>
          </a:prstGeom>
          <a:solidFill>
            <a:srgbClr val="5B9A6B">
              <a:alpha val="15000"/>
            </a:srgbClr>
          </a:solidFill>
          <a:ln w="12700">
            <a:solidFill>
              <a:srgbClr val="5B9A6B"/>
            </a:solidFill>
            <a:prstDash val="dash"/>
          </a:ln>
        </p:spPr>
      </p:sp>
      <p:sp>
        <p:nvSpPr>
          <p:cNvPr id="23" name="Text 17"/>
          <p:cNvSpPr/>
          <p:nvPr/>
        </p:nvSpPr>
        <p:spPr>
          <a:xfrm>
            <a:off x="640080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新手玩家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008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快速上手英雄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不踩坑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560320" y="3931920"/>
            <a:ext cx="1828800" cy="914400"/>
          </a:xfrm>
          <a:prstGeom prst="rect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dash"/>
          </a:ln>
        </p:spPr>
      </p:sp>
      <p:sp>
        <p:nvSpPr>
          <p:cNvPr id="26" name="Text 20"/>
          <p:cNvSpPr/>
          <p:nvPr/>
        </p:nvSpPr>
        <p:spPr>
          <a:xfrm>
            <a:off x="2651760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进阶玩家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265176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优化选择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榨取胜率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0" y="3931920"/>
            <a:ext cx="1828800" cy="914400"/>
          </a:xfrm>
          <a:prstGeom prst="rect">
            <a:avLst/>
          </a:prstGeom>
          <a:solidFill>
            <a:srgbClr val="7B5EA7">
              <a:alpha val="15000"/>
            </a:srgbClr>
          </a:solidFill>
          <a:ln w="12700">
            <a:solidFill>
              <a:srgbClr val="7B5EA7"/>
            </a:solidFill>
            <a:prstDash val="dash"/>
          </a:ln>
        </p:spPr>
      </p:sp>
      <p:sp>
        <p:nvSpPr>
          <p:cNvPr id="29" name="Text 23"/>
          <p:cNvSpPr/>
          <p:nvPr/>
        </p:nvSpPr>
        <p:spPr>
          <a:xfrm>
            <a:off x="4663440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硬核数据党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66344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关注修正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研究搭配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583680" y="3931920"/>
            <a:ext cx="1828800" cy="914400"/>
          </a:xfrm>
          <a:prstGeom prst="rect">
            <a:avLst/>
          </a:prstGeom>
          <a:solidFill>
            <a:srgbClr val="E8833A">
              <a:alpha val="15000"/>
            </a:srgbClr>
          </a:solidFill>
          <a:ln w="12700">
            <a:solidFill>
              <a:srgbClr val="E8833A"/>
            </a:solidFill>
            <a:prstDash val="dash"/>
          </a:ln>
        </p:spPr>
      </p:sp>
      <p:sp>
        <p:nvSpPr>
          <p:cNvPr id="32" name="Text 26"/>
          <p:cNvSpPr/>
          <p:nvPr/>
        </p:nvSpPr>
        <p:spPr>
          <a:xfrm>
            <a:off x="6675120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社区贡献者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67512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分享玩法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获取认可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五大核心功能模块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828800" cy="27432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097280"/>
            <a:ext cx="1554480" cy="3566160"/>
          </a:xfrm>
          <a:prstGeom prst="rect">
            <a:avLst/>
          </a:prstGeom>
          <a:solidFill>
            <a:srgbClr val="FFFFFF"/>
          </a:solidFill>
          <a:ln w="16510">
            <a:solidFill>
              <a:srgbClr val="D64545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8016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1280160" cy="2743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英雄梯度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56032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S+~C 五级梯度 × 胜率 × Ban率 ×ARAM 平衡修正可视化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03120" y="1097280"/>
            <a:ext cx="1554480" cy="3566160"/>
          </a:xfrm>
          <a:prstGeom prst="rect">
            <a:avLst/>
          </a:prstGeom>
          <a:solidFill>
            <a:srgbClr val="FFFFFF"/>
          </a:solidFill>
          <a:ln w="16510">
            <a:solidFill>
              <a:srgbClr val="4A90D9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80160"/>
            <a:ext cx="502920" cy="5029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40280" y="1965960"/>
            <a:ext cx="128016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8"/>
          <p:cNvSpPr/>
          <p:nvPr/>
        </p:nvSpPr>
        <p:spPr>
          <a:xfrm>
            <a:off x="219456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强化符文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194560" y="256032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棱彩/金/银 × 按英雄推荐 × 套装进度 × 智能追踪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794760" y="1097280"/>
            <a:ext cx="1554480" cy="3566160"/>
          </a:xfrm>
          <a:prstGeom prst="rect">
            <a:avLst/>
          </a:prstGeom>
          <a:solidFill>
            <a:srgbClr val="FFFFFF"/>
          </a:solidFill>
          <a:ln w="16510">
            <a:solidFill>
              <a:srgbClr val="5B9A6B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280160"/>
            <a:ext cx="502920" cy="5029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931920" y="1965960"/>
            <a:ext cx="1280160" cy="27432"/>
          </a:xfrm>
          <a:prstGeom prst="rect">
            <a:avLst/>
          </a:prstGeom>
          <a:solidFill>
            <a:srgbClr val="5B9A6B"/>
          </a:solidFill>
          <a:ln/>
        </p:spPr>
      </p:sp>
      <p:sp>
        <p:nvSpPr>
          <p:cNvPr id="17" name="Text 12"/>
          <p:cNvSpPr/>
          <p:nvPr/>
        </p:nvSpPr>
        <p:spPr>
          <a:xfrm>
            <a:off x="38862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玩法社区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886200" y="256032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UGC 穿搭投稿 × 投票排行 × 出战前 → 键参考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0" y="1097280"/>
            <a:ext cx="1554480" cy="3566160"/>
          </a:xfrm>
          <a:prstGeom prst="rect">
            <a:avLst/>
          </a:prstGeom>
          <a:solidFill>
            <a:srgbClr val="FFFFFF"/>
          </a:solidFill>
          <a:ln w="16510">
            <a:solidFill>
              <a:srgbClr val="E8833A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280160"/>
            <a:ext cx="502920" cy="5029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623560" y="1965960"/>
            <a:ext cx="1280160" cy="2743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2" name="Text 16"/>
          <p:cNvSpPr/>
          <p:nvPr/>
        </p:nvSpPr>
        <p:spPr>
          <a:xfrm>
            <a:off x="557784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版本启示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77840" y="256032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版本变更新闻 × 版本陷阱标记 × nerf/buff 提醒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178040" y="1097280"/>
            <a:ext cx="1554480" cy="3566160"/>
          </a:xfrm>
          <a:prstGeom prst="rect">
            <a:avLst/>
          </a:prstGeom>
          <a:solidFill>
            <a:srgbClr val="FFFFFF"/>
          </a:solidFill>
          <a:ln w="16510">
            <a:solidFill>
              <a:srgbClr val="3D9E9E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280160"/>
            <a:ext cx="502920" cy="50292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315200" y="1965960"/>
            <a:ext cx="1280160" cy="27432"/>
          </a:xfrm>
          <a:prstGeom prst="rect">
            <a:avLst/>
          </a:prstGeom>
          <a:solidFill>
            <a:srgbClr val="3D9E9E"/>
          </a:solidFill>
          <a:ln/>
        </p:spPr>
      </p:sp>
      <p:sp>
        <p:nvSpPr>
          <p:cNvPr id="27" name="Text 20"/>
          <p:cNvSpPr/>
          <p:nvPr/>
        </p:nvSpPr>
        <p:spPr>
          <a:xfrm>
            <a:off x="726948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个人中心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269480" y="256032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投稿历史 × 收藏夹 × 偏好设置 × 模式切换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Android 客户端架构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828800" cy="27432"/>
          </a:xfrm>
          <a:prstGeom prst="rect">
            <a:avLst/>
          </a:prstGeom>
          <a:solidFill>
            <a:srgbClr val="5B9A6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4389120" cy="548640"/>
          </a:xfrm>
          <a:prstGeom prst="rect">
            <a:avLst/>
          </a:prstGeom>
          <a:solidFill>
            <a:srgbClr val="D64545">
              <a:alpha val="12000"/>
            </a:srgbClr>
          </a:solidFill>
          <a:ln w="15240">
            <a:solidFill>
              <a:srgbClr val="D6454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097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Activity · Fragment · Adapter · Custom 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389120" cy="548640"/>
          </a:xfrm>
          <a:prstGeom prst="rect">
            <a:avLst/>
          </a:prstGeom>
          <a:solidFill>
            <a:srgbClr val="4A90D9">
              <a:alpha val="12000"/>
            </a:srgbClr>
          </a:solidFill>
          <a:ln w="15240">
            <a:solidFill>
              <a:srgbClr val="4A90D9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ViewModel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ViewModel · LiveData · State Management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4389120" cy="548640"/>
          </a:xfrm>
          <a:prstGeom prst="rect">
            <a:avLst/>
          </a:prstGeom>
          <a:solidFill>
            <a:srgbClr val="5B9A6B">
              <a:alpha val="12000"/>
            </a:srgbClr>
          </a:solidFill>
          <a:ln w="15240">
            <a:solidFill>
              <a:srgbClr val="5B9A6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85800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Repository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468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Repository · Data Mapping · Cache Strategy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4389120" cy="548640"/>
          </a:xfrm>
          <a:prstGeom prst="rect">
            <a:avLst/>
          </a:prstGeom>
          <a:solidFill>
            <a:srgbClr val="E8833A">
              <a:alpha val="12000"/>
            </a:srgbClr>
          </a:solidFill>
          <a:ln w="15240">
            <a:solidFill>
              <a:srgbClr val="E8833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85800" y="3154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3154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Retrofit · Room · SharedPreferences · Glide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4389120" cy="548640"/>
          </a:xfrm>
          <a:prstGeom prst="rect">
            <a:avLst/>
          </a:prstGeom>
          <a:solidFill>
            <a:srgbClr val="7B5EA7">
              <a:alpha val="12000"/>
            </a:srgbClr>
          </a:solidFill>
          <a:ln w="15240">
            <a:solidFill>
              <a:srgbClr val="7B5EA7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8580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Core / DI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Hilt · Navigation · RxJava3 · ProGuard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1097280"/>
            <a:ext cx="3017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6B6B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技术栈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6928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  Java 21 · XML Layout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1837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  ViewBinding · MVVM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2075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  Retrofit2 + OkHttp4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2313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  Room 本地数据库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2551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  Glide 图片加载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2788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  Hilt (Dagger DI)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30266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  RxJava3 异步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0" y="32644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  EncryptedSharedPrefs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3502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  Jetpack Navigation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37398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  ProGuard 混淆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minSdk 26 · targetSdk 34 · Java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Spring Boot 后端架构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828800" cy="27432"/>
          </a:xfrm>
          <a:prstGeom prst="rect">
            <a:avLst/>
          </a:prstGeom>
          <a:solidFill>
            <a:srgbClr val="3D9E9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4754880" cy="640080"/>
          </a:xfrm>
          <a:prstGeom prst="rect">
            <a:avLst/>
          </a:prstGeom>
          <a:solidFill>
            <a:srgbClr val="D64545">
              <a:alpha val="12000"/>
            </a:srgbClr>
          </a:solidFill>
          <a:ln w="15240">
            <a:solidFill>
              <a:srgbClr val="D6454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1024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167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@RestController · @Valid 校验 · 统一 ResponseEntity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4754880" cy="640080"/>
          </a:xfrm>
          <a:prstGeom prst="rect">
            <a:avLst/>
          </a:prstGeom>
          <a:solidFill>
            <a:srgbClr val="4A90D9">
              <a:alpha val="12000"/>
            </a:srgbClr>
          </a:solidFill>
          <a:ln w="15240">
            <a:solidFill>
              <a:srgbClr val="4A90D9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85800" y="17739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Service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0665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@Service · 业务逻辑 · @Transactional 事务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4754880" cy="640080"/>
          </a:xfrm>
          <a:prstGeom prst="rect">
            <a:avLst/>
          </a:prstGeom>
          <a:solidFill>
            <a:srgbClr val="5B9A6B">
              <a:alpha val="12000"/>
            </a:srgbClr>
          </a:solidFill>
          <a:ln w="15240">
            <a:solidFill>
              <a:srgbClr val="5B9A6B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85800" y="2523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Mapper (MyBatis Plus)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816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BaseMapper&lt;T&gt; · LambdaWrapper · IPage&lt;T&gt; 分页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55264"/>
            <a:ext cx="4754880" cy="640080"/>
          </a:xfrm>
          <a:prstGeom prst="rect">
            <a:avLst/>
          </a:prstGeom>
          <a:solidFill>
            <a:srgbClr val="E8833A">
              <a:alpha val="12000"/>
            </a:srgbClr>
          </a:solidFill>
          <a:ln w="15240">
            <a:solidFill>
              <a:srgbClr val="E8833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85800" y="3273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Entity / DTO / VO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566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@TableName · @TableId · Lombok @Data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4754880" cy="640080"/>
          </a:xfrm>
          <a:prstGeom prst="rect">
            <a:avLst/>
          </a:prstGeom>
          <a:solidFill>
            <a:srgbClr val="7B5EA7">
              <a:alpha val="12000"/>
            </a:srgbClr>
          </a:solidFill>
          <a:ln w="15240">
            <a:solidFill>
              <a:srgbClr val="7B5EA7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85800" y="4023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3159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Security + JWT · Redis Cache · @Scheduled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005840"/>
            <a:ext cx="2926080" cy="1645920"/>
          </a:xfrm>
          <a:prstGeom prst="rect">
            <a:avLst/>
          </a:prstGeom>
          <a:solidFill>
            <a:srgbClr val="FFFFFF"/>
          </a:solidFill>
          <a:ln w="16510">
            <a:solidFill>
              <a:srgbClr val="5B9A6B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97280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852160" y="1536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MySQL 8.0+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85216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tb_user    tb_hero    tb_augment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tb_strategy    tb_vote    tb_bulletin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utf8mb4    MyBatis Plus   9 tables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577840" y="2880360"/>
            <a:ext cx="2926080" cy="822960"/>
          </a:xfrm>
          <a:prstGeom prst="rect">
            <a:avLst/>
          </a:prstGeom>
          <a:solidFill>
            <a:srgbClr val="FFFFFF"/>
          </a:solidFill>
          <a:ln w="16510">
            <a:solidFill>
              <a:srgbClr val="E8833A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999232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446520" y="29992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Redis  Cache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577840" y="3886200"/>
            <a:ext cx="2926080" cy="822960"/>
          </a:xfrm>
          <a:prstGeom prst="rect">
            <a:avLst/>
          </a:prstGeom>
          <a:solidFill>
            <a:srgbClr val="FFFFFF"/>
          </a:solidFill>
          <a:ln w="16510">
            <a:solidFill>
              <a:srgbClr val="7B5EA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005072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46520" y="4005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Spring Security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46520" y="4297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+ BCrypt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全景系统架构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594360"/>
            <a:ext cx="1371600" cy="2743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3840480" cy="3657600"/>
          </a:xfrm>
          <a:prstGeom prst="rect">
            <a:avLst/>
          </a:prstGeom>
          <a:solidFill>
            <a:srgbClr val="5B9A6B">
              <a:alpha val="10000"/>
            </a:srgbClr>
          </a:solidFill>
          <a:ln w="10160">
            <a:solidFill>
              <a:srgbClr val="5B9A6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9A6B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Android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822960"/>
            <a:ext cx="3840480" cy="3657600"/>
          </a:xfrm>
          <a:prstGeom prst="rect">
            <a:avLst/>
          </a:prstGeom>
          <a:solidFill>
            <a:srgbClr val="3D9E9E">
              <a:alpha val="10000"/>
            </a:srgbClr>
          </a:solidFill>
          <a:ln w="10160">
            <a:solidFill>
              <a:srgbClr val="3D9E9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846320" y="822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9E9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454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7240" y="1325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Activity / Fragment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1920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ViewModel + LiveData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A6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77240" y="25146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833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77240" y="31089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Retrofit  ·  Room  ·  Glide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B5EA7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Hilt DI  ·  RxJava3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32588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454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166360" y="13258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@RestController   REST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192024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166360" y="1920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@Service   Business Logic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251460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B9A6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166360" y="25146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MyBatis Plus Mapper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310896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833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166360" y="31089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DB  ·  Redis  ·  Security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370332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B5EA7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166360" y="37033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E2E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@Scheduled  ·  Swagger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HTTP  ( Retrofit2  &gt;&gt;&gt;  Spring MVC  RESTful 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0" y="4279392"/>
            <a:ext cx="3657600" cy="1828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Auth   |   BCrypt   |   ProGuard   |   EncryptedSharedPrefs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Android 模块拆分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645920" cy="27432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960120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4545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60120"/>
            <a:ext cx="2560320" cy="36576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Application  ·  MainActivity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4A90D9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256032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51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core-network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OkHttp + Retrofit2  + JWT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5B9A6B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2560320" cy="36576"/>
          </a:xfrm>
          <a:prstGeom prst="rect">
            <a:avLst/>
          </a:prstGeom>
          <a:solidFill>
            <a:srgbClr val="5B9A6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515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Room DB  ·  SharedPreferences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1883664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833A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1883664"/>
            <a:ext cx="2560320" cy="3657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975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core-ui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Custom Views  ·  Theme  ·  Style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883664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7B5EA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883664"/>
            <a:ext cx="2560320" cy="36576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1975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core-common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Constants  ·  Result&lt;T&gt;  ·  Enums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1883664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3D9E9E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1883664"/>
            <a:ext cx="2560320" cy="36576"/>
          </a:xfrm>
          <a:prstGeom prst="rect">
            <a:avLst/>
          </a:prstGeom>
          <a:solidFill>
            <a:srgbClr val="3D9E9E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975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feature-auth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Login  /  Register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2807208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64545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2807208"/>
            <a:ext cx="2560320" cy="36576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2898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feature-home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191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Home  ·  Quick Entry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91840" y="2807208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4A90D9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2807208"/>
            <a:ext cx="256032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2898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feature-hero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29000" y="3191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Hero List  +  Detail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80760" y="2807208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5B9A6B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2807208"/>
            <a:ext cx="2560320" cy="36576"/>
          </a:xfrm>
          <a:prstGeom prst="rect">
            <a:avLst/>
          </a:prstGeom>
          <a:solidFill>
            <a:srgbClr val="5B9A6B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2898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feature-augment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3191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Augment  +  Synergy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3730752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833A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2920" y="3730752"/>
            <a:ext cx="2560320" cy="36576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feature-community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Feed  +  Publish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91840" y="3730752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7B5EA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91840" y="3730752"/>
            <a:ext cx="2560320" cy="36576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6" name="Text 44"/>
          <p:cNvSpPr/>
          <p:nvPr/>
        </p:nvSpPr>
        <p:spPr>
          <a:xfrm>
            <a:off x="3429000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feature-profile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2900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Profile  +  Settings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80760" y="3730752"/>
            <a:ext cx="25603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3D9E9E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80760" y="3730752"/>
            <a:ext cx="2560320" cy="36576"/>
          </a:xfrm>
          <a:prstGeom prst="rect">
            <a:avLst/>
          </a:prstGeom>
          <a:solidFill>
            <a:srgbClr val="3D9E9E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0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1792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NavGraph  +  Routes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本地部署架构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645920" cy="27432"/>
          </a:xfrm>
          <a:prstGeom prst="rect">
            <a:avLst/>
          </a:prstGeom>
          <a:solidFill>
            <a:srgbClr val="3D9E9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383280" cy="3474720"/>
          </a:xfrm>
          <a:prstGeom prst="rect">
            <a:avLst/>
          </a:prstGeom>
          <a:solidFill>
            <a:srgbClr val="5B9A6B">
              <a:alpha val="10000"/>
            </a:srgbClr>
          </a:solidFill>
          <a:ln w="10160">
            <a:solidFill>
              <a:srgbClr val="5B9A6B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0972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087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Android 手機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APK via ADB · 不上架商店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LAN: http://192.168.101.2:8080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EncryptedSharedPrefs + Keystore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network_security_config.xml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1005840"/>
            <a:ext cx="4114800" cy="3474720"/>
          </a:xfrm>
          <a:prstGeom prst="rect">
            <a:avLst/>
          </a:prstGeom>
          <a:solidFill>
            <a:srgbClr val="3D9E9E">
              <a:alpha val="10000"/>
            </a:srgbClr>
          </a:solidFill>
          <a:ln w="10160">
            <a:solidFill>
              <a:srgbClr val="3D9E9E"/>
            </a:solidFill>
            <a:prstDash val="dash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972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1508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E2E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开发计算机 ( 192.168.101.2 )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Spring Boot  +  MySQL  +  Redis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846320" y="2377440"/>
            <a:ext cx="3566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4A90D9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493776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:8080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67512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java -jar aram-server.jar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846320" y="2880360"/>
            <a:ext cx="3566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4A90D9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493776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9.7 :3306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67512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utf8mb4  ·  9 tables  ·  local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846320" y="3383280"/>
            <a:ext cx="3566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4A90D9"/>
            </a:solidFill>
            <a:prstDash val="dash"/>
          </a:ln>
        </p:spPr>
      </p:sp>
      <p:sp>
        <p:nvSpPr>
          <p:cNvPr id="20" name="Text 16"/>
          <p:cNvSpPr/>
          <p:nvPr/>
        </p:nvSpPr>
        <p:spPr>
          <a:xfrm>
            <a:off x="493776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:6379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675120" y="3383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热点缓存  ·  PONG ✓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846320" y="3886200"/>
            <a:ext cx="3566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4A90D9"/>
            </a:solidFill>
            <a:prstDash val="dash"/>
          </a:ln>
        </p:spPr>
      </p:sp>
      <p:sp>
        <p:nvSpPr>
          <p:cNvPr id="23" name="Text 19"/>
          <p:cNvSpPr/>
          <p:nvPr/>
        </p:nvSpPr>
        <p:spPr>
          <a:xfrm>
            <a:off x="493776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Firewall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675120" y="3886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Segoe Print" pitchFamily="34" charset="0"/>
                <a:ea typeface="Segoe Print" pitchFamily="34" charset="-122"/>
                <a:cs typeface="Segoe Print" pitchFamily="34" charset="-120"/>
              </a:rPr>
              <a:t>开放 8080  ·  仅 LAN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开发里程碑路线图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900000">
            <a:off x="457200" y="182880"/>
            <a:ext cx="274320" cy="2743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900000">
            <a:off x="8412480" y="182880"/>
            <a:ext cx="274320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51460" y="1143000"/>
            <a:ext cx="2057400" cy="960120"/>
          </a:xfrm>
          <a:prstGeom prst="rect">
            <a:avLst/>
          </a:prstGeom>
          <a:solidFill>
            <a:srgbClr val="2E2E2E"/>
          </a:solidFill>
          <a:ln w="16510">
            <a:solidFill>
              <a:srgbClr val="D64545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342900" y="1216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42900" y="1490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项目初始化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42900" y="1764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+ Spring Boot 脚手架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446020" y="1143000"/>
            <a:ext cx="2057400" cy="960120"/>
          </a:xfrm>
          <a:prstGeom prst="rect">
            <a:avLst/>
          </a:prstGeom>
          <a:solidFill>
            <a:srgbClr val="2E2E2E"/>
          </a:solidFill>
          <a:ln w="16510">
            <a:solidFill>
              <a:srgbClr val="4A90D9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2537460" y="1216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537460" y="1490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基础架构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37460" y="1764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建表 · MyBatis Plus · JWT · 网络配置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40580" y="1143000"/>
            <a:ext cx="2057400" cy="960120"/>
          </a:xfrm>
          <a:prstGeom prst="rect">
            <a:avLst/>
          </a:prstGeom>
          <a:solidFill>
            <a:srgbClr val="2E2E2E"/>
          </a:solidFill>
          <a:ln w="16510">
            <a:solidFill>
              <a:srgbClr val="5B9A6B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4732020" y="1216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32020" y="1490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UI 框架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732020" y="1764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 · Navigation · 通用组件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835140" y="1143000"/>
            <a:ext cx="2057400" cy="960120"/>
          </a:xfrm>
          <a:prstGeom prst="rect">
            <a:avLst/>
          </a:prstGeom>
          <a:solidFill>
            <a:srgbClr val="2E2E2E"/>
          </a:solidFill>
          <a:ln w="16510">
            <a:solidFill>
              <a:srgbClr val="E8833A"/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6926580" y="1216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M4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926580" y="1490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英雄模块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926580" y="17647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 · 详情 · ARAM 修正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51460" y="2194560"/>
            <a:ext cx="2057400" cy="960120"/>
          </a:xfrm>
          <a:prstGeom prst="rect">
            <a:avLst/>
          </a:prstGeom>
          <a:solidFill>
            <a:srgbClr val="2E2E2E"/>
          </a:solidFill>
          <a:ln w="16510">
            <a:solidFill>
              <a:srgbClr val="7B5EA7"/>
            </a:solidFill>
            <a:prstDash val="dash"/>
          </a:ln>
        </p:spPr>
      </p:sp>
      <p:sp>
        <p:nvSpPr>
          <p:cNvPr id="23" name="Text 19"/>
          <p:cNvSpPr/>
          <p:nvPr/>
        </p:nvSpPr>
        <p:spPr>
          <a:xfrm>
            <a:off x="342900" y="2267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M5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2900" y="25420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强化符文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342900" y="28163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 · 套装 · 智能推荐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446020" y="2194560"/>
            <a:ext cx="2057400" cy="960120"/>
          </a:xfrm>
          <a:prstGeom prst="rect">
            <a:avLst/>
          </a:prstGeom>
          <a:solidFill>
            <a:srgbClr val="2E2E2E"/>
          </a:solidFill>
          <a:ln w="16510">
            <a:solidFill>
              <a:srgbClr val="3D9E9E"/>
            </a:solidFill>
            <a:prstDash val="dash"/>
          </a:ln>
        </p:spPr>
      </p:sp>
      <p:sp>
        <p:nvSpPr>
          <p:cNvPr id="27" name="Text 23"/>
          <p:cNvSpPr/>
          <p:nvPr/>
        </p:nvSpPr>
        <p:spPr>
          <a:xfrm>
            <a:off x="2537460" y="2267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M6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2537460" y="25420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玩法社区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2537460" y="28163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 · 发布 · 投票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640580" y="2194560"/>
            <a:ext cx="2057400" cy="960120"/>
          </a:xfrm>
          <a:prstGeom prst="rect">
            <a:avLst/>
          </a:prstGeom>
          <a:solidFill>
            <a:srgbClr val="2E2E2E"/>
          </a:solidFill>
          <a:ln w="16510">
            <a:solidFill>
              <a:srgbClr val="E8A2B0"/>
            </a:solidFill>
            <a:prstDash val="dash"/>
          </a:ln>
        </p:spPr>
      </p:sp>
      <p:sp>
        <p:nvSpPr>
          <p:cNvPr id="31" name="Text 27"/>
          <p:cNvSpPr/>
          <p:nvPr/>
        </p:nvSpPr>
        <p:spPr>
          <a:xfrm>
            <a:off x="4732020" y="2267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M7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732020" y="25420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版本公告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4732020" y="28163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轮播 · 版本陷阱提醒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835140" y="2194560"/>
            <a:ext cx="2057400" cy="960120"/>
          </a:xfrm>
          <a:prstGeom prst="rect">
            <a:avLst/>
          </a:prstGeom>
          <a:solidFill>
            <a:srgbClr val="2E2E2E"/>
          </a:solidFill>
          <a:ln w="16510">
            <a:solidFill>
              <a:srgbClr val="D64545"/>
            </a:solidFill>
            <a:prstDash val="dash"/>
          </a:ln>
        </p:spPr>
      </p:sp>
      <p:sp>
        <p:nvSpPr>
          <p:cNvPr id="35" name="Text 31"/>
          <p:cNvSpPr/>
          <p:nvPr/>
        </p:nvSpPr>
        <p:spPr>
          <a:xfrm>
            <a:off x="6926580" y="2267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M8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6926580" y="25420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个人中心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6926580" y="28163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· 收藏 · 偏好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51460" y="3246120"/>
            <a:ext cx="2057400" cy="960120"/>
          </a:xfrm>
          <a:prstGeom prst="rect">
            <a:avLst/>
          </a:prstGeom>
          <a:solidFill>
            <a:srgbClr val="2E2E2E"/>
          </a:solidFill>
          <a:ln w="16510">
            <a:solidFill>
              <a:srgbClr val="4A90D9"/>
            </a:solidFill>
            <a:prstDash val="dash"/>
          </a:ln>
        </p:spPr>
      </p:sp>
      <p:sp>
        <p:nvSpPr>
          <p:cNvPr id="39" name="Text 35"/>
          <p:cNvSpPr/>
          <p:nvPr/>
        </p:nvSpPr>
        <p:spPr>
          <a:xfrm>
            <a:off x="342900" y="3319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M9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342900" y="35935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数据管线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342900" y="38679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Riot API · 定时同步 · 缓存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2446020" y="3246120"/>
            <a:ext cx="2057400" cy="960120"/>
          </a:xfrm>
          <a:prstGeom prst="rect">
            <a:avLst/>
          </a:prstGeom>
          <a:solidFill>
            <a:srgbClr val="2E2E2E"/>
          </a:solidFill>
          <a:ln w="16510">
            <a:solidFill>
              <a:srgbClr val="5B9A6B"/>
            </a:solidFill>
            <a:prstDash val="dash"/>
          </a:ln>
        </p:spPr>
      </p:sp>
      <p:sp>
        <p:nvSpPr>
          <p:cNvPr id="43" name="Text 39"/>
          <p:cNvSpPr/>
          <p:nvPr/>
        </p:nvSpPr>
        <p:spPr>
          <a:xfrm>
            <a:off x="2537460" y="3319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9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M10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2537460" y="35935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测试集成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2537460" y="38679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JUnit5 · Espresso · LeakCanary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4640580" y="3246120"/>
            <a:ext cx="2057400" cy="960120"/>
          </a:xfrm>
          <a:prstGeom prst="rect">
            <a:avLst/>
          </a:prstGeom>
          <a:solidFill>
            <a:srgbClr val="2E2E2E"/>
          </a:solidFill>
          <a:ln w="16510">
            <a:solidFill>
              <a:srgbClr val="E8833A"/>
            </a:solidFill>
            <a:prstDash val="dash"/>
          </a:ln>
        </p:spPr>
      </p:sp>
      <p:sp>
        <p:nvSpPr>
          <p:cNvPr id="47" name="Text 43"/>
          <p:cNvSpPr/>
          <p:nvPr/>
        </p:nvSpPr>
        <p:spPr>
          <a:xfrm>
            <a:off x="4732020" y="3319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M11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4732020" y="35935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本地部署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4732020" y="38679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APK · start-server.bat · 验证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914400" y="4480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阶段依赖: M1 &gt; M2/M3 &gt; M4~M8 &gt; M9 &gt; M10 &gt; M11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预计开发周期: 6~8 周  ·  纯本地部署 · 个人使用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ARAM Mayhem Assistant - 项目演示</dc:title>
  <dc:subject>PptxGenJS Presentation</dc:subject>
  <dc:creator>ARAM Mayhem Team</dc:creator>
  <cp:lastModifiedBy>ARAM Mayhem Team</cp:lastModifiedBy>
  <cp:revision>1</cp:revision>
  <dcterms:created xsi:type="dcterms:W3CDTF">2026-05-03T05:38:27Z</dcterms:created>
  <dcterms:modified xsi:type="dcterms:W3CDTF">2026-05-03T05:38:27Z</dcterms:modified>
</cp:coreProperties>
</file>